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3796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SIH 2026 • AI-Based Landslide Risk Monitoring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0241280" y="65379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Northeast India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AI-Based Landslide Susceptibility &amp; Dynamic Risk Monitoring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9184" y="5120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End-to-end architecture • Northeast India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19659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5496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DATA ACQUISITION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804672" cy="438912"/>
          </a:xfrm>
          <a:prstGeom prst="roundRect">
            <a:avLst>
              <a:gd name="adj" fmla="val 104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52728"/>
            <a:ext cx="6766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GSI Landslide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252728" y="1207008"/>
            <a:ext cx="804672" cy="438912"/>
          </a:xfrm>
          <a:prstGeom prst="roundRect">
            <a:avLst>
              <a:gd name="adj" fmla="val 104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6736" y="1252728"/>
            <a:ext cx="6766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Earth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47472" y="1719072"/>
            <a:ext cx="804672" cy="438912"/>
          </a:xfrm>
          <a:prstGeom prst="roundRect">
            <a:avLst>
              <a:gd name="adj" fmla="val 104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64792"/>
            <a:ext cx="6766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ERA5 /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ERA5-Land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1252728" y="1719072"/>
            <a:ext cx="804672" cy="438912"/>
          </a:xfrm>
          <a:prstGeom prst="roundRect">
            <a:avLst>
              <a:gd name="adj" fmla="val 104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6736" y="1764792"/>
            <a:ext cx="6766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Copernicus DEM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Terrain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47472" y="2231136"/>
            <a:ext cx="804672" cy="393192"/>
          </a:xfrm>
          <a:prstGeom prst="roundRect">
            <a:avLst>
              <a:gd name="adj" fmla="val 11628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76856"/>
            <a:ext cx="6766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Sentinel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Landsat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252728" y="2231136"/>
            <a:ext cx="804672" cy="393192"/>
          </a:xfrm>
          <a:prstGeom prst="roundRect">
            <a:avLst>
              <a:gd name="adj" fmla="val 11628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16736" y="2276856"/>
            <a:ext cx="6766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CHIRPS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IMD Rainfall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95528" y="2670048"/>
            <a:ext cx="804672" cy="393192"/>
          </a:xfrm>
          <a:prstGeom prst="roundRect">
            <a:avLst>
              <a:gd name="adj" fmla="val 11628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715768"/>
            <a:ext cx="6766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Seismic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Geological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331720" y="804672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804672"/>
            <a:ext cx="224028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41448" y="854964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GEO-SPATIAL PROCESSING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87168" y="1207008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EAF8E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51176" y="1252728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520440" y="120700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AF8E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1252728"/>
            <a:ext cx="7863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Matching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Projection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2487168" y="1682496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EAF8E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51176" y="1728216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520440" y="1682496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AF8E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1728216"/>
            <a:ext cx="7863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Join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487168" y="2157984"/>
            <a:ext cx="1947672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51176" y="2203704"/>
            <a:ext cx="18196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/ SLOWLY CHANGING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Elevation • Slope • Aspect • Terrain • NDVI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Landcover • Soil Moisture • Seismic • Rainfall Climatology</a:t>
            </a:r>
            <a:endParaRPr lang="en-US" sz="630" dirty="0"/>
          </a:p>
        </p:txBody>
      </p:sp>
      <p:sp>
        <p:nvSpPr>
          <p:cNvPr id="34" name="Shape 32"/>
          <p:cNvSpPr/>
          <p:nvPr/>
        </p:nvSpPr>
        <p:spPr>
          <a:xfrm>
            <a:off x="2487168" y="2688336"/>
            <a:ext cx="1947672" cy="484632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51176" y="2734056"/>
            <a:ext cx="18196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FEATURES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Rainfall Accumulation • Intensity • Soil Moisture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ERA5 Weather • Historical Sequences</a:t>
            </a:r>
            <a:endParaRPr lang="en-US" sz="630" dirty="0"/>
          </a:p>
        </p:txBody>
      </p:sp>
      <p:sp>
        <p:nvSpPr>
          <p:cNvPr id="36" name="Shape 34"/>
          <p:cNvSpPr/>
          <p:nvPr/>
        </p:nvSpPr>
        <p:spPr>
          <a:xfrm>
            <a:off x="4709160" y="804672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804672"/>
            <a:ext cx="19659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85496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MODEL 1 — SUSCEPTIBILITY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64608" y="1207008"/>
            <a:ext cx="1655064" cy="384048"/>
          </a:xfrm>
          <a:prstGeom prst="roundRect">
            <a:avLst>
              <a:gd name="adj" fmla="val 11905"/>
            </a:avLst>
          </a:prstGeom>
          <a:solidFill>
            <a:srgbClr val="F2EC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28616" y="1252728"/>
            <a:ext cx="152704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Spatial Dataset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864608" y="1682496"/>
            <a:ext cx="749808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28616" y="1728216"/>
            <a:ext cx="6217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69864" y="1682496"/>
            <a:ext cx="749808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33872" y="1728216"/>
            <a:ext cx="6217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864608" y="2194560"/>
            <a:ext cx="165506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8616" y="2240280"/>
            <a:ext cx="152704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+ Validate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 • PR-AUC • F1 • Recall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864608" y="2670048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F2EC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2715768"/>
            <a:ext cx="621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769864" y="2670048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F2EC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33872" y="2715768"/>
            <a:ext cx="621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XAI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864608" y="3136392"/>
            <a:ext cx="1655064" cy="41148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28616" y="3182112"/>
            <a:ext cx="152704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SUSCEPTIBILITY PROBABILITY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→ 1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812280" y="804672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12280" y="804672"/>
            <a:ext cx="196596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22008" y="85496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MODEL 2 — DYNAMIC RISK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967728" y="1207008"/>
            <a:ext cx="1655064" cy="429768"/>
          </a:xfrm>
          <a:prstGeom prst="roundRect">
            <a:avLst>
              <a:gd name="adj" fmla="val 10638"/>
            </a:avLst>
          </a:prstGeom>
          <a:solidFill>
            <a:srgbClr val="FFF1E8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1736" y="1252728"/>
            <a:ext cx="1527048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Dataset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 + Time + Weather + Static Features</a:t>
            </a:r>
            <a:endParaRPr lang="en-US" sz="630" dirty="0"/>
          </a:p>
        </p:txBody>
      </p:sp>
      <p:sp>
        <p:nvSpPr>
          <p:cNvPr id="58" name="Shape 56"/>
          <p:cNvSpPr/>
          <p:nvPr/>
        </p:nvSpPr>
        <p:spPr>
          <a:xfrm>
            <a:off x="6967728" y="1728216"/>
            <a:ext cx="1655064" cy="347472"/>
          </a:xfrm>
          <a:prstGeom prst="roundRect">
            <a:avLst>
              <a:gd name="adj" fmla="val 13158"/>
            </a:avLst>
          </a:prstGeom>
          <a:solidFill>
            <a:srgbClr val="FFF8DB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31736" y="1773936"/>
            <a:ext cx="15270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1 Susceptibility Score</a:t>
            </a:r>
            <a:endParaRPr lang="en-US" sz="670" dirty="0"/>
          </a:p>
        </p:txBody>
      </p:sp>
      <p:sp>
        <p:nvSpPr>
          <p:cNvPr id="60" name="Shape 58"/>
          <p:cNvSpPr/>
          <p:nvPr/>
        </p:nvSpPr>
        <p:spPr>
          <a:xfrm>
            <a:off x="6967728" y="2167128"/>
            <a:ext cx="475488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31736" y="2212848"/>
            <a:ext cx="3474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7562088" y="2167128"/>
            <a:ext cx="475488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26096" y="2212848"/>
            <a:ext cx="3474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LGBM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8147304" y="2167128"/>
            <a:ext cx="475488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11312" y="2212848"/>
            <a:ext cx="3474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6967728" y="2660904"/>
            <a:ext cx="1655064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31736" y="2706624"/>
            <a:ext cx="152704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Model Comparison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6967728" y="3154680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FFF1E8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31736" y="3200400"/>
            <a:ext cx="621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872984" y="3154680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36992" y="3200400"/>
            <a:ext cx="6217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915400" y="804672"/>
            <a:ext cx="1600200" cy="19659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915400" y="804672"/>
            <a:ext cx="1600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025128" y="854964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REAL-TIME ENGINE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9052560" y="1207008"/>
            <a:ext cx="658368" cy="429768"/>
          </a:xfrm>
          <a:prstGeom prst="roundRect">
            <a:avLst>
              <a:gd name="adj" fmla="val 10638"/>
            </a:avLst>
          </a:prstGeom>
          <a:solidFill>
            <a:srgbClr val="FE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16568" y="1252728"/>
            <a:ext cx="53035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IMD APIs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/ Forecast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9784080" y="1207008"/>
            <a:ext cx="594360" cy="429768"/>
          </a:xfrm>
          <a:prstGeom prst="roundRect">
            <a:avLst>
              <a:gd name="adj" fmla="val 10638"/>
            </a:avLst>
          </a:prstGeom>
          <a:solidFill>
            <a:srgbClr val="FE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48088" y="1252728"/>
            <a:ext cx="466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/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052560" y="1746504"/>
            <a:ext cx="132588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116568" y="1792224"/>
            <a:ext cx="119786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Health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• Offline • Fault</a:t>
            </a:r>
            <a:endParaRPr lang="en-US" sz="620" dirty="0"/>
          </a:p>
        </p:txBody>
      </p:sp>
      <p:sp>
        <p:nvSpPr>
          <p:cNvPr id="81" name="Shape 79"/>
          <p:cNvSpPr/>
          <p:nvPr/>
        </p:nvSpPr>
        <p:spPr>
          <a:xfrm>
            <a:off x="9052560" y="2249424"/>
            <a:ext cx="1325880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116568" y="2295144"/>
            <a:ext cx="119786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Feature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</a:t>
            </a:r>
            <a:endParaRPr lang="en-US" sz="670" dirty="0"/>
          </a:p>
        </p:txBody>
      </p:sp>
      <p:sp>
        <p:nvSpPr>
          <p:cNvPr id="83" name="Shape 81"/>
          <p:cNvSpPr/>
          <p:nvPr/>
        </p:nvSpPr>
        <p:spPr>
          <a:xfrm>
            <a:off x="9052560" y="2752344"/>
            <a:ext cx="1325880" cy="429768"/>
          </a:xfrm>
          <a:prstGeom prst="roundRect">
            <a:avLst>
              <a:gd name="adj" fmla="val 1063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116568" y="2798064"/>
            <a:ext cx="119786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Risk Update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Early Warning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194560" y="1783080"/>
            <a:ext cx="1371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4572000" y="1828800"/>
            <a:ext cx="1371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675120" y="1828800"/>
            <a:ext cx="1371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8778240" y="1828800"/>
            <a:ext cx="1371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4434840" y="2395728"/>
            <a:ext cx="429768" cy="-996696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4434840" y="2697480"/>
            <a:ext cx="2532888" cy="-128016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5696712" y="3136392"/>
            <a:ext cx="1271016" cy="-123444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92" name="Text 90"/>
          <p:cNvSpPr/>
          <p:nvPr/>
        </p:nvSpPr>
        <p:spPr>
          <a:xfrm>
            <a:off x="5715000" y="23317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Susceptibility Score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8622792" y="3346704"/>
            <a:ext cx="-749808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228600" y="3429000"/>
            <a:ext cx="3703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28600" y="3429000"/>
            <a:ext cx="370332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38328" y="3479292"/>
            <a:ext cx="3483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MULTILINGUAL GIS DASHBOARD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93192" y="3840480"/>
            <a:ext cx="987552" cy="475488"/>
          </a:xfrm>
          <a:prstGeom prst="roundRect">
            <a:avLst>
              <a:gd name="adj" fmla="val 961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7200" y="3886200"/>
            <a:ext cx="859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GIS MAP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527048" y="3840480"/>
            <a:ext cx="1051560" cy="475488"/>
          </a:xfrm>
          <a:prstGeom prst="roundRect">
            <a:avLst>
              <a:gd name="adj" fmla="val 9615"/>
            </a:avLst>
          </a:prstGeom>
          <a:solidFill>
            <a:srgbClr val="E7F8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591056" y="3886200"/>
            <a:ext cx="9235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Susceptibility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Zones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724912" y="3840480"/>
            <a:ext cx="1051560" cy="475488"/>
          </a:xfrm>
          <a:prstGeom prst="roundRect">
            <a:avLst>
              <a:gd name="adj" fmla="val 9615"/>
            </a:avLst>
          </a:prstGeom>
          <a:solidFill>
            <a:srgbClr val="E7F8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788920" y="3886200"/>
            <a:ext cx="9235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Risk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393192" y="4453128"/>
            <a:ext cx="987552" cy="475488"/>
          </a:xfrm>
          <a:prstGeom prst="roundRect">
            <a:avLst>
              <a:gd name="adj" fmla="val 9615"/>
            </a:avLst>
          </a:prstGeom>
          <a:solidFill>
            <a:srgbClr val="E7F8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" y="4498848"/>
            <a:ext cx="859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1527048" y="4453128"/>
            <a:ext cx="1051560" cy="475488"/>
          </a:xfrm>
          <a:prstGeom prst="roundRect">
            <a:avLst>
              <a:gd name="adj" fmla="val 9615"/>
            </a:avLst>
          </a:prstGeom>
          <a:solidFill>
            <a:srgbClr val="E7F8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91056" y="4498848"/>
            <a:ext cx="9235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Landslides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2724912" y="4453128"/>
            <a:ext cx="1051560" cy="475488"/>
          </a:xfrm>
          <a:prstGeom prst="roundRect">
            <a:avLst>
              <a:gd name="adj" fmla="val 9615"/>
            </a:avLst>
          </a:prstGeom>
          <a:solidFill>
            <a:srgbClr val="E7F8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788920" y="4498848"/>
            <a:ext cx="9235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Vulnerable Roads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Connectivity</a:t>
            </a:r>
            <a:endParaRPr lang="en-US" sz="660" dirty="0"/>
          </a:p>
        </p:txBody>
      </p:sp>
      <p:sp>
        <p:nvSpPr>
          <p:cNvPr id="109" name="Shape 107"/>
          <p:cNvSpPr/>
          <p:nvPr/>
        </p:nvSpPr>
        <p:spPr>
          <a:xfrm>
            <a:off x="393192" y="5065776"/>
            <a:ext cx="987552" cy="475488"/>
          </a:xfrm>
          <a:prstGeom prst="roundRect">
            <a:avLst>
              <a:gd name="adj" fmla="val 9615"/>
            </a:avLst>
          </a:prstGeom>
          <a:solidFill>
            <a:srgbClr val="E7F8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57200" y="5111496"/>
            <a:ext cx="859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</a:t>
            </a:r>
            <a:endParaRPr lang="en-US" sz="670" dirty="0"/>
          </a:p>
        </p:txBody>
      </p:sp>
      <p:sp>
        <p:nvSpPr>
          <p:cNvPr id="111" name="Shape 109"/>
          <p:cNvSpPr/>
          <p:nvPr/>
        </p:nvSpPr>
        <p:spPr>
          <a:xfrm>
            <a:off x="1527048" y="5065776"/>
            <a:ext cx="1051560" cy="475488"/>
          </a:xfrm>
          <a:prstGeom prst="roundRect">
            <a:avLst>
              <a:gd name="adj" fmla="val 9615"/>
            </a:avLst>
          </a:prstGeom>
          <a:solidFill>
            <a:srgbClr val="E7F8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591056" y="5111496"/>
            <a:ext cx="9235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Issues</a:t>
            </a:r>
            <a:endParaRPr lang="en-US" sz="680" dirty="0"/>
          </a:p>
        </p:txBody>
      </p:sp>
      <p:sp>
        <p:nvSpPr>
          <p:cNvPr id="113" name="Shape 111"/>
          <p:cNvSpPr/>
          <p:nvPr/>
        </p:nvSpPr>
        <p:spPr>
          <a:xfrm>
            <a:off x="2724912" y="5065776"/>
            <a:ext cx="1051560" cy="475488"/>
          </a:xfrm>
          <a:prstGeom prst="roundRect">
            <a:avLst>
              <a:gd name="adj" fmla="val 9615"/>
            </a:avLst>
          </a:prstGeom>
          <a:solidFill>
            <a:srgbClr val="E7F8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788920" y="5111496"/>
            <a:ext cx="9235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Forecast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Risk Warning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393192" y="5596128"/>
            <a:ext cx="158191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57200" y="5641848"/>
            <a:ext cx="14538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Feature-Level Risk: Rainfall • Soil Moisture • Slope • Seismic • Terrain</a:t>
            </a:r>
            <a:endParaRPr lang="en-US" sz="580" dirty="0"/>
          </a:p>
        </p:txBody>
      </p:sp>
      <p:sp>
        <p:nvSpPr>
          <p:cNvPr id="117" name="Shape 115"/>
          <p:cNvSpPr/>
          <p:nvPr/>
        </p:nvSpPr>
        <p:spPr>
          <a:xfrm>
            <a:off x="2130552" y="559612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194560" y="5641848"/>
            <a:ext cx="15179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Prediction &amp; Warning Panel</a:t>
            </a:r>
            <a:endParaRPr lang="en-US" sz="630" dirty="0"/>
          </a:p>
        </p:txBody>
      </p:sp>
      <p:sp>
        <p:nvSpPr>
          <p:cNvPr id="119" name="Shape 117"/>
          <p:cNvSpPr/>
          <p:nvPr/>
        </p:nvSpPr>
        <p:spPr>
          <a:xfrm>
            <a:off x="4114800" y="3429000"/>
            <a:ext cx="37947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14800" y="3429000"/>
            <a:ext cx="3794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224528" y="3479292"/>
            <a:ext cx="3575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CITIZEN MOBILE APP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4279392" y="3840480"/>
            <a:ext cx="1051560" cy="438912"/>
          </a:xfrm>
          <a:prstGeom prst="roundRect">
            <a:avLst>
              <a:gd name="adj" fmla="val 104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343400" y="3886200"/>
            <a:ext cx="923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Location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5468112" y="3840480"/>
            <a:ext cx="1051560" cy="438912"/>
          </a:xfrm>
          <a:prstGeom prst="roundRect">
            <a:avLst>
              <a:gd name="adj" fmla="val 104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532120" y="3886200"/>
            <a:ext cx="923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 Reporting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Social-Style Posting</a:t>
            </a:r>
            <a:endParaRPr lang="en-US" sz="630" dirty="0"/>
          </a:p>
        </p:txBody>
      </p:sp>
      <p:sp>
        <p:nvSpPr>
          <p:cNvPr id="126" name="Shape 124"/>
          <p:cNvSpPr/>
          <p:nvPr/>
        </p:nvSpPr>
        <p:spPr>
          <a:xfrm>
            <a:off x="6656832" y="3840480"/>
            <a:ext cx="1051560" cy="438912"/>
          </a:xfrm>
          <a:prstGeom prst="roundRect">
            <a:avLst>
              <a:gd name="adj" fmla="val 104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720840" y="3886200"/>
            <a:ext cx="923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 / Videos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680" dirty="0"/>
          </a:p>
        </p:txBody>
      </p:sp>
      <p:sp>
        <p:nvSpPr>
          <p:cNvPr id="128" name="Shape 126"/>
          <p:cNvSpPr/>
          <p:nvPr/>
        </p:nvSpPr>
        <p:spPr>
          <a:xfrm>
            <a:off x="4279392" y="4407408"/>
            <a:ext cx="10515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343400" y="4453128"/>
            <a:ext cx="923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Severity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5468112" y="4407408"/>
            <a:ext cx="10515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532120" y="4453128"/>
            <a:ext cx="923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6656832" y="4407408"/>
            <a:ext cx="10515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720840" y="4453128"/>
            <a:ext cx="923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Issue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4279392" y="4974336"/>
            <a:ext cx="10515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343400" y="5020056"/>
            <a:ext cx="923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/</a:t>
            </a:r>
            <a:endParaRPr lang="en-US" sz="640" dirty="0"/>
          </a:p>
          <a:p>
            <a:pPr algn="ctr" indent="0" marL="0">
              <a:buNone/>
            </a:pPr>
            <a:r>
              <a:rPr lang="en-US" sz="6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 Verification</a:t>
            </a:r>
            <a:endParaRPr lang="en-US" sz="640" dirty="0"/>
          </a:p>
        </p:txBody>
      </p:sp>
      <p:sp>
        <p:nvSpPr>
          <p:cNvPr id="136" name="Shape 134"/>
          <p:cNvSpPr/>
          <p:nvPr/>
        </p:nvSpPr>
        <p:spPr>
          <a:xfrm>
            <a:off x="5468112" y="4974336"/>
            <a:ext cx="10515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532120" y="5020056"/>
            <a:ext cx="923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Response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Prioritisation</a:t>
            </a:r>
            <a:endParaRPr lang="en-US" sz="630" dirty="0"/>
          </a:p>
        </p:txBody>
      </p:sp>
      <p:sp>
        <p:nvSpPr>
          <p:cNvPr id="138" name="Shape 136"/>
          <p:cNvSpPr/>
          <p:nvPr/>
        </p:nvSpPr>
        <p:spPr>
          <a:xfrm>
            <a:off x="6656832" y="4974336"/>
            <a:ext cx="10515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720840" y="5020056"/>
            <a:ext cx="923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GIS Map +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/ Filter</a:t>
            </a:r>
            <a:endParaRPr lang="en-US" sz="670" dirty="0"/>
          </a:p>
        </p:txBody>
      </p:sp>
      <p:sp>
        <p:nvSpPr>
          <p:cNvPr id="140" name="Shape 138"/>
          <p:cNvSpPr/>
          <p:nvPr/>
        </p:nvSpPr>
        <p:spPr>
          <a:xfrm>
            <a:off x="4279392" y="554126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343400" y="5586984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Chatbot</a:t>
            </a:r>
            <a:endParaRPr lang="en-US" sz="680" dirty="0"/>
          </a:p>
        </p:txBody>
      </p:sp>
      <p:sp>
        <p:nvSpPr>
          <p:cNvPr id="142" name="Shape 140"/>
          <p:cNvSpPr/>
          <p:nvPr/>
        </p:nvSpPr>
        <p:spPr>
          <a:xfrm>
            <a:off x="5468112" y="554126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532120" y="5586984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Severity-Based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630" dirty="0"/>
          </a:p>
        </p:txBody>
      </p:sp>
      <p:sp>
        <p:nvSpPr>
          <p:cNvPr id="144" name="Shape 142"/>
          <p:cNvSpPr/>
          <p:nvPr/>
        </p:nvSpPr>
        <p:spPr>
          <a:xfrm>
            <a:off x="6656832" y="5541264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FE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720840" y="5586984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 + 10-sec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092440" y="3429000"/>
            <a:ext cx="386791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092440" y="3429000"/>
            <a:ext cx="3867912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>
                <a:alpha val="0"/>
              </a:srgbClr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202168" y="3479292"/>
            <a:ext cx="3648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ADMIN / AUTHORITY RESPONSE</a:t>
            </a:r>
            <a:endParaRPr lang="en-US" sz="1100" dirty="0"/>
          </a:p>
        </p:txBody>
      </p:sp>
      <p:sp>
        <p:nvSpPr>
          <p:cNvPr id="149" name="Shape 147"/>
          <p:cNvSpPr/>
          <p:nvPr/>
        </p:nvSpPr>
        <p:spPr>
          <a:xfrm>
            <a:off x="8257032" y="3840480"/>
            <a:ext cx="1078992" cy="411480"/>
          </a:xfrm>
          <a:prstGeom prst="roundRect">
            <a:avLst>
              <a:gd name="adj" fmla="val 11111"/>
            </a:avLst>
          </a:prstGeom>
          <a:solidFill>
            <a:srgbClr val="EAF8E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321040" y="3886200"/>
            <a:ext cx="9509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 Login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9482328" y="3840480"/>
            <a:ext cx="1078992" cy="411480"/>
          </a:xfrm>
          <a:prstGeom prst="roundRect">
            <a:avLst>
              <a:gd name="adj" fmla="val 11111"/>
            </a:avLst>
          </a:prstGeom>
          <a:solidFill>
            <a:srgbClr val="EAF8E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546336" y="3886200"/>
            <a:ext cx="9509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Management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670" dirty="0"/>
          </a:p>
        </p:txBody>
      </p:sp>
      <p:sp>
        <p:nvSpPr>
          <p:cNvPr id="153" name="Shape 151"/>
          <p:cNvSpPr/>
          <p:nvPr/>
        </p:nvSpPr>
        <p:spPr>
          <a:xfrm>
            <a:off x="10707624" y="3840480"/>
            <a:ext cx="1078992" cy="411480"/>
          </a:xfrm>
          <a:prstGeom prst="roundRect">
            <a:avLst>
              <a:gd name="adj" fmla="val 11111"/>
            </a:avLst>
          </a:prstGeom>
          <a:solidFill>
            <a:srgbClr val="EAF8E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771632" y="3886200"/>
            <a:ext cx="9509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Kanban Workflow</a:t>
            </a:r>
            <a:endParaRPr lang="en-US" sz="680" dirty="0"/>
          </a:p>
        </p:txBody>
      </p:sp>
      <p:sp>
        <p:nvSpPr>
          <p:cNvPr id="155" name="Shape 153"/>
          <p:cNvSpPr/>
          <p:nvPr/>
        </p:nvSpPr>
        <p:spPr>
          <a:xfrm>
            <a:off x="8257032" y="4389120"/>
            <a:ext cx="1078992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8321040" y="4434840"/>
            <a:ext cx="9509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Drag &amp; Drop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9482328" y="4389120"/>
            <a:ext cx="1078992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546336" y="4434840"/>
            <a:ext cx="9509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→ Verified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Assigned</a:t>
            </a:r>
            <a:endParaRPr lang="en-US" sz="630" dirty="0"/>
          </a:p>
        </p:txBody>
      </p:sp>
      <p:sp>
        <p:nvSpPr>
          <p:cNvPr id="159" name="Shape 157"/>
          <p:cNvSpPr/>
          <p:nvPr/>
        </p:nvSpPr>
        <p:spPr>
          <a:xfrm>
            <a:off x="10707624" y="4389120"/>
            <a:ext cx="1078992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771632" y="4434840"/>
            <a:ext cx="9509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Resolved</a:t>
            </a:r>
            <a:endParaRPr lang="en-US" sz="670" dirty="0"/>
          </a:p>
        </p:txBody>
      </p:sp>
      <p:sp>
        <p:nvSpPr>
          <p:cNvPr id="161" name="Shape 159"/>
          <p:cNvSpPr/>
          <p:nvPr/>
        </p:nvSpPr>
        <p:spPr>
          <a:xfrm>
            <a:off x="8257032" y="4937760"/>
            <a:ext cx="1078992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321040" y="4983480"/>
            <a:ext cx="9509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Monitoring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Escalation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9482328" y="4937760"/>
            <a:ext cx="1078992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546336" y="4983480"/>
            <a:ext cx="9509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GIS Issue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10707624" y="4937760"/>
            <a:ext cx="1078992" cy="411480"/>
          </a:xfrm>
          <a:prstGeom prst="roundRect">
            <a:avLst>
              <a:gd name="adj" fmla="val 11111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0771632" y="4983480"/>
            <a:ext cx="9509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Response</a:t>
            </a:r>
            <a:endParaRPr lang="en-US" sz="630" dirty="0"/>
          </a:p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Coordination</a:t>
            </a:r>
            <a:endParaRPr lang="en-US" sz="630" dirty="0"/>
          </a:p>
        </p:txBody>
      </p:sp>
      <p:sp>
        <p:nvSpPr>
          <p:cNvPr id="167" name="Shape 165"/>
          <p:cNvSpPr/>
          <p:nvPr/>
        </p:nvSpPr>
        <p:spPr>
          <a:xfrm>
            <a:off x="8257032" y="5486400"/>
            <a:ext cx="3529584" cy="365760"/>
          </a:xfrm>
          <a:prstGeom prst="roundRect">
            <a:avLst>
              <a:gd name="adj" fmla="val 12500"/>
            </a:avLst>
          </a:prstGeom>
          <a:solidFill>
            <a:srgbClr val="FFF8DB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8321040" y="5532120"/>
            <a:ext cx="34015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/ Resolved Events → Feedback → Model Improvement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1380744" y="4078224"/>
            <a:ext cx="146304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70" name="Shape 168"/>
          <p:cNvSpPr/>
          <p:nvPr/>
        </p:nvSpPr>
        <p:spPr>
          <a:xfrm>
            <a:off x="2578608" y="4078224"/>
            <a:ext cx="146304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71" name="Shape 169"/>
          <p:cNvSpPr/>
          <p:nvPr/>
        </p:nvSpPr>
        <p:spPr>
          <a:xfrm>
            <a:off x="886968" y="4315968"/>
            <a:ext cx="0" cy="13716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72" name="Shape 170"/>
          <p:cNvSpPr/>
          <p:nvPr/>
        </p:nvSpPr>
        <p:spPr>
          <a:xfrm>
            <a:off x="2048256" y="4315968"/>
            <a:ext cx="0" cy="13716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73" name="Shape 171"/>
          <p:cNvSpPr/>
          <p:nvPr/>
        </p:nvSpPr>
        <p:spPr>
          <a:xfrm>
            <a:off x="3246120" y="4315968"/>
            <a:ext cx="0" cy="13716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74" name="Shape 172"/>
          <p:cNvSpPr/>
          <p:nvPr/>
        </p:nvSpPr>
        <p:spPr>
          <a:xfrm>
            <a:off x="886968" y="4928616"/>
            <a:ext cx="0" cy="13716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2048256" y="4928616"/>
            <a:ext cx="0" cy="13716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76" name="Shape 174"/>
          <p:cNvSpPr/>
          <p:nvPr/>
        </p:nvSpPr>
        <p:spPr>
          <a:xfrm>
            <a:off x="3246120" y="4928616"/>
            <a:ext cx="0" cy="13716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77" name="Shape 175"/>
          <p:cNvSpPr/>
          <p:nvPr/>
        </p:nvSpPr>
        <p:spPr>
          <a:xfrm>
            <a:off x="4800600" y="4279392"/>
            <a:ext cx="0" cy="12801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5989320" y="4279392"/>
            <a:ext cx="0" cy="12801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7178040" y="4279392"/>
            <a:ext cx="0" cy="12801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4800600" y="4846320"/>
            <a:ext cx="0" cy="12801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5989320" y="4846320"/>
            <a:ext cx="0" cy="12801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2" name="Shape 180"/>
          <p:cNvSpPr/>
          <p:nvPr/>
        </p:nvSpPr>
        <p:spPr>
          <a:xfrm>
            <a:off x="7178040" y="4846320"/>
            <a:ext cx="0" cy="12801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3" name="Shape 181"/>
          <p:cNvSpPr/>
          <p:nvPr/>
        </p:nvSpPr>
        <p:spPr>
          <a:xfrm>
            <a:off x="4800600" y="5413248"/>
            <a:ext cx="0" cy="12801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4" name="Shape 182"/>
          <p:cNvSpPr/>
          <p:nvPr/>
        </p:nvSpPr>
        <p:spPr>
          <a:xfrm>
            <a:off x="5989320" y="5413248"/>
            <a:ext cx="0" cy="12801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5" name="Shape 183"/>
          <p:cNvSpPr/>
          <p:nvPr/>
        </p:nvSpPr>
        <p:spPr>
          <a:xfrm>
            <a:off x="7178040" y="5413248"/>
            <a:ext cx="0" cy="12801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6" name="Shape 184"/>
          <p:cNvSpPr/>
          <p:nvPr/>
        </p:nvSpPr>
        <p:spPr>
          <a:xfrm>
            <a:off x="9336024" y="4251960"/>
            <a:ext cx="146304" cy="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87" name="Shape 185"/>
          <p:cNvSpPr/>
          <p:nvPr/>
        </p:nvSpPr>
        <p:spPr>
          <a:xfrm>
            <a:off x="10561320" y="4251960"/>
            <a:ext cx="146304" cy="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88" name="Shape 186"/>
          <p:cNvSpPr/>
          <p:nvPr/>
        </p:nvSpPr>
        <p:spPr>
          <a:xfrm>
            <a:off x="8796528" y="4251960"/>
            <a:ext cx="0" cy="13716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89" name="Shape 187"/>
          <p:cNvSpPr/>
          <p:nvPr/>
        </p:nvSpPr>
        <p:spPr>
          <a:xfrm>
            <a:off x="10021824" y="4251960"/>
            <a:ext cx="0" cy="13716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90" name="Shape 188"/>
          <p:cNvSpPr/>
          <p:nvPr/>
        </p:nvSpPr>
        <p:spPr>
          <a:xfrm>
            <a:off x="11247120" y="4251960"/>
            <a:ext cx="0" cy="13716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91" name="Shape 189"/>
          <p:cNvSpPr/>
          <p:nvPr/>
        </p:nvSpPr>
        <p:spPr>
          <a:xfrm>
            <a:off x="8796528" y="4800600"/>
            <a:ext cx="0" cy="13716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92" name="Shape 190"/>
          <p:cNvSpPr/>
          <p:nvPr/>
        </p:nvSpPr>
        <p:spPr>
          <a:xfrm>
            <a:off x="10021824" y="4800600"/>
            <a:ext cx="0" cy="13716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93" name="Shape 191"/>
          <p:cNvSpPr/>
          <p:nvPr/>
        </p:nvSpPr>
        <p:spPr>
          <a:xfrm>
            <a:off x="11247120" y="4800600"/>
            <a:ext cx="0" cy="13716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94" name="Shape 192"/>
          <p:cNvSpPr/>
          <p:nvPr/>
        </p:nvSpPr>
        <p:spPr>
          <a:xfrm>
            <a:off x="9692640" y="3182112"/>
            <a:ext cx="-6355080" cy="658368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95" name="Text 193"/>
          <p:cNvSpPr/>
          <p:nvPr/>
        </p:nvSpPr>
        <p:spPr>
          <a:xfrm>
            <a:off x="6080760" y="321868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Risk / Sensor Data</a:t>
            </a:r>
            <a:endParaRPr lang="en-US" sz="650" dirty="0"/>
          </a:p>
        </p:txBody>
      </p:sp>
      <p:sp>
        <p:nvSpPr>
          <p:cNvPr id="196" name="Shape 194"/>
          <p:cNvSpPr/>
          <p:nvPr/>
        </p:nvSpPr>
        <p:spPr>
          <a:xfrm>
            <a:off x="8622792" y="3346704"/>
            <a:ext cx="-5056632" cy="493776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197" name="Shape 195"/>
          <p:cNvSpPr/>
          <p:nvPr/>
        </p:nvSpPr>
        <p:spPr>
          <a:xfrm>
            <a:off x="3931920" y="4800600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98" name="Text 196"/>
          <p:cNvSpPr/>
          <p:nvPr/>
        </p:nvSpPr>
        <p:spPr>
          <a:xfrm>
            <a:off x="3886200" y="45720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GIS</a:t>
            </a:r>
            <a:endParaRPr lang="en-US" sz="650" dirty="0"/>
          </a:p>
        </p:txBody>
      </p:sp>
      <p:sp>
        <p:nvSpPr>
          <p:cNvPr id="199" name="Shape 197"/>
          <p:cNvSpPr/>
          <p:nvPr/>
        </p:nvSpPr>
        <p:spPr>
          <a:xfrm>
            <a:off x="7909560" y="4800600"/>
            <a:ext cx="1828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0" name="Text 198"/>
          <p:cNvSpPr/>
          <p:nvPr/>
        </p:nvSpPr>
        <p:spPr>
          <a:xfrm>
            <a:off x="7543800" y="45720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650" dirty="0"/>
          </a:p>
        </p:txBody>
      </p:sp>
      <p:sp>
        <p:nvSpPr>
          <p:cNvPr id="201" name="Shape 199"/>
          <p:cNvSpPr/>
          <p:nvPr/>
        </p:nvSpPr>
        <p:spPr>
          <a:xfrm>
            <a:off x="10012680" y="5486400"/>
            <a:ext cx="-2834640" cy="54864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202" name="Text 200"/>
          <p:cNvSpPr/>
          <p:nvPr/>
        </p:nvSpPr>
        <p:spPr>
          <a:xfrm>
            <a:off x="8275320" y="5742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/ Notifications</a:t>
            </a:r>
            <a:endParaRPr lang="en-US" sz="650" dirty="0"/>
          </a:p>
        </p:txBody>
      </p:sp>
      <p:sp>
        <p:nvSpPr>
          <p:cNvPr id="203" name="Shape 201"/>
          <p:cNvSpPr/>
          <p:nvPr/>
        </p:nvSpPr>
        <p:spPr>
          <a:xfrm>
            <a:off x="4526280" y="5623560"/>
            <a:ext cx="3657600" cy="777240"/>
          </a:xfrm>
          <a:prstGeom prst="arc">
            <a:avLst/>
          </a:prstGeom>
          <a:noFill/>
          <a:ln w="19050">
            <a:solidFill>
              <a:srgbClr val="CA8A04"/>
            </a:solidFill>
            <a:prstDash val="solid"/>
            <a:tailEnd type="triangle"/>
          </a:ln>
        </p:spPr>
      </p:sp>
      <p:sp>
        <p:nvSpPr>
          <p:cNvPr id="204" name="Text 202"/>
          <p:cNvSpPr/>
          <p:nvPr/>
        </p:nvSpPr>
        <p:spPr>
          <a:xfrm>
            <a:off x="5166360" y="60350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CA8A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OBSERVATIONS • VERIFIED EVENTS • SENSOR DATA → MODEL UPDATE</a:t>
            </a:r>
            <a:endParaRPr lang="en-US" sz="650" dirty="0"/>
          </a:p>
        </p:txBody>
      </p:sp>
      <p:sp>
        <p:nvSpPr>
          <p:cNvPr id="205" name="Text 203"/>
          <p:cNvSpPr/>
          <p:nvPr/>
        </p:nvSpPr>
        <p:spPr>
          <a:xfrm>
            <a:off x="1828800" y="2871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Features</a:t>
            </a:r>
            <a:endParaRPr lang="en-US" sz="650" dirty="0"/>
          </a:p>
        </p:txBody>
      </p:sp>
      <p:sp>
        <p:nvSpPr>
          <p:cNvPr id="206" name="Text 204"/>
          <p:cNvSpPr/>
          <p:nvPr/>
        </p:nvSpPr>
        <p:spPr>
          <a:xfrm>
            <a:off x="5532120" y="35844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WHERE?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7818120" y="35844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WHEN?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SIH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Landslide Risk Monitoring System Architecture</dc:title>
  <dc:subject>AI-Based Landslide Susceptibility and Dynamic Risk Monitoring</dc:subject>
  <dc:creator>SIH 2026</dc:creator>
  <cp:lastModifiedBy>SIH 2026</cp:lastModifiedBy>
  <cp:revision>1</cp:revision>
  <dcterms:created xsi:type="dcterms:W3CDTF">2026-09-08T15:54:03Z</dcterms:created>
  <dcterms:modified xsi:type="dcterms:W3CDTF">2026-09-08T15:54:03Z</dcterms:modified>
</cp:coreProperties>
</file>